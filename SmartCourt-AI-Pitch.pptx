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-1554480"/>
            <a:ext cx="4023360" cy="4023360"/>
          </a:xfrm>
          <a:prstGeom prst="ellipse">
            <a:avLst/>
          </a:prstGeom>
          <a:solidFill>
            <a:srgbClr val="B58900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-1051560"/>
            <a:ext cx="2743200" cy="2743200"/>
          </a:xfrm>
          <a:prstGeom prst="ellipse">
            <a:avLst/>
          </a:prstGeom>
          <a:solidFill>
            <a:srgbClr val="CB4B1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-548640"/>
            <a:ext cx="1554480" cy="1554480"/>
          </a:xfrm>
          <a:prstGeom prst="ellipse">
            <a:avLst/>
          </a:prstGeom>
          <a:solidFill>
            <a:srgbClr val="CB4B16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taqdimoti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160020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6000"/>
              </a:srgbClr>
            </a:outerShdw>
          </a:effectLst>
        </p:spPr>
      </p:sp>
      <p:pic>
        <p:nvPicPr>
          <p:cNvPr id="8" name="Image 0" descr="c:/Users/admin/Desktop/cdTZ.md/smartcourt-frontend/_shots/_log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02536"/>
            <a:ext cx="1161288" cy="11612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68880" y="182880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2505456" y="2743200"/>
            <a:ext cx="1143000" cy="64008"/>
          </a:xfrm>
          <a:prstGeom prst="roundRect">
            <a:avLst>
              <a:gd name="adj" fmla="val 42857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87168" y="2926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jarayonining butun zanjiri uchun to'liq lokal AI ekotizimi — ariza qabulidan qaror ijrosigacha.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487168" y="38862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pPr indent="0" marL="0">
              <a:buNone/>
            </a:pPr>
            <a:r>
              <a:rPr lang="en-US" sz="1300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268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pPr indent="0" marL="0">
              <a:buNone/>
            </a:pPr>
            <a:r>
              <a:rPr lang="en-US" sz="1300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6C7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pPr indent="0" marL="0">
              <a:buNone/>
            </a:pPr>
            <a:r>
              <a:rPr lang="en-US" sz="1300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300" b="1" dirty="0">
                <a:solidFill>
                  <a:srgbClr val="CB4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moduli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  ·   #BukharaAI   · 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kimmiz?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 — O'zbekiston sudlari uchun to'liq on-premise (lokal) ishlaydigan sun'iy intellekt ekotizimi.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3200400"/>
          </a:xfrm>
          <a:prstGeom prst="roundRect">
            <a:avLst>
              <a:gd name="adj" fmla="val 2571"/>
            </a:avLst>
          </a:prstGeom>
          <a:solidFill>
            <a:srgbClr val="F5EFDB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4000"/>
              </a:srgbClr>
            </a:outerShdw>
          </a:effectLst>
        </p:spPr>
      </p:sp>
      <p:pic>
        <p:nvPicPr>
          <p:cNvPr id="7" name="Image 0" descr="c:/Users/admin/Desktop/cdTZ.md/smartcourt-frontend/_shots/_montag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27048"/>
            <a:ext cx="3941064" cy="2980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1417320"/>
            <a:ext cx="38404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1748" y="1545336"/>
            <a:ext cx="54864" cy="2944368"/>
          </a:xfrm>
          <a:prstGeom prst="roundRect">
            <a:avLst>
              <a:gd name="adj" fmla="val 5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6276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— butun zanjir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4920" y="2121408"/>
            <a:ext cx="338328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4064" y="2377440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26771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 → tahlil → majlis → qaror → ijro: butun oqim bitta platformada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84064" y="3090672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2AA1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298094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 AI moduli: ClaimValidator, SmartJudge, JustiScribe, CorruptAlert...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4064" y="3803904"/>
            <a:ext cx="109728" cy="109728"/>
          </a:xfrm>
          <a:prstGeom prst="roundRect">
            <a:avLst>
              <a:gd name="adj" fmla="val 25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369417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modellar lokal (Ollama) — ma'lumot tashqi serverga chiqmaydi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9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interfeys: Fuqaro portali · Sudya paneli · Admin · Nazorat · Landing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hal qilayotgan muammo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4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CB4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jarayoni sekin, hujjatlar qo'lda yuritiladi; mavjud AI-yechimlar esa maxfiylikni buzadi.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504188"/>
            <a:ext cx="3858768" cy="54864"/>
          </a:xfrm>
          <a:prstGeom prst="roundRect">
            <a:avLst>
              <a:gd name="adj" fmla="val 50000"/>
            </a:avLst>
          </a:prstGeom>
          <a:solidFill>
            <a:srgbClr val="CB4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CB4B16">
              <a:alpha val="14000"/>
            </a:srgbClr>
          </a:solidFill>
          <a:ln w="15875">
            <a:solidFill>
              <a:srgbClr val="CB4B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B4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Sekin, qo'lda jarayon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Ariza, dalil, majlis bayoni va qaror alohida yuritiladi — bir ish oylab cho'ziladi, fuqaro adolatdan uzoqlashadi.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14800" cy="2971800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82896" y="1504188"/>
            <a:ext cx="3858768" cy="54864"/>
          </a:xfrm>
          <a:prstGeom prst="roundRect">
            <a:avLst>
              <a:gd name="adj" fmla="val 50000"/>
            </a:avLst>
          </a:prstGeom>
          <a:solidFill>
            <a:srgbClr val="DC32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28800"/>
            <a:ext cx="566928" cy="566928"/>
          </a:xfrm>
          <a:prstGeom prst="ellipse">
            <a:avLst/>
          </a:prstGeom>
          <a:solidFill>
            <a:srgbClr val="DC322F">
              <a:alpha val="14000"/>
            </a:srgbClr>
          </a:solidFill>
          <a:ln w="15875">
            <a:solidFill>
              <a:srgbClr val="DC32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32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760720" y="18470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AI = maxfiylik xavfi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47488" y="269748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Tayyor AI-yechimlar sud sirlarini chet el serveriga (OpenAI) yuboradi — bu davlat maʼlumotlar suvereniteti talabiga zid.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9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'gallyutsinatsiya' qiladi — mavjud bo'lmagan qonun moddasini to'qishi mumkin. Sud uchun bu falokat.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Bozor hajmi va maqsadli auditoriya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B4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CB4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sud-huquq tizimini raqamlashtirish bozori — O'zbekiston va Markaziy Osiyo.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2628" y="1682496"/>
            <a:ext cx="54864" cy="658368"/>
          </a:xfrm>
          <a:prstGeom prst="roundRect">
            <a:avLst>
              <a:gd name="adj" fmla="val 50000"/>
            </a:avLst>
          </a:prstGeom>
          <a:solidFill>
            <a:srgbClr val="CB4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459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4B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6656" y="20299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Markaziy Osiyo davlat sud-huquq IT bozori (5 davlat)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67665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" y="2724912"/>
            <a:ext cx="54864" cy="658368"/>
          </a:xfrm>
          <a:prstGeom prst="roundRect">
            <a:avLst>
              <a:gd name="adj" fmla="val 50000"/>
            </a:avLst>
          </a:prstGeom>
          <a:solidFill>
            <a:srgbClr val="B58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688336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8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2688336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" y="30723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O'zbekiston: ~200 sud, ~1500 sudya, yiliga ~4M 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" y="3767328"/>
            <a:ext cx="54864" cy="658368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307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5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7307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yilda 15–20%: pilot sudlar + Oliy sud integratsiyasi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9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mijoz: Oliy sud, Sudlar departamenti, Adliya vazirligi (B2G).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Yechim + Raqobatchilar tahlili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+ RAG + inson nazorati — bulutli yechimlar bera olmaydigan ustunlik.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20116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73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Xususiyat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SmartCourt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8B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8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Bulutli AI (ChatGPT)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8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Klassik e-sud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9D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73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To'liq lokal (on-premise)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3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3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73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Tezkor AI javob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3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73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Davlat tizimiga integratsiya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3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736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O'zbek tili (lotin/kirill)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599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E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4516"/>
            </a:avLst>
          </a:prstGeom>
          <a:solidFill>
            <a:srgbClr val="F0E9D2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5216" y="3973068"/>
            <a:ext cx="7973568" cy="54864"/>
          </a:xfrm>
          <a:prstGeom prst="roundRect">
            <a:avLst>
              <a:gd name="adj" fmla="val 5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98678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SmartCourt AI?  —  Lokal + RAG + inson nazorati birga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Monetizatsiya modeli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5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litsenziya modeli — davlat sud organlariga yillik obuna + on-prem joriy etish.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79192" cy="297180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504188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to'laydi?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221992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4688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Oliy sud · Sudlar departamenti · Adliya vazirligi (B2G)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64408" y="1508760"/>
            <a:ext cx="2679192" cy="297180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1504188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Qancha to'laydi?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93008" y="2286000"/>
            <a:ext cx="2221992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24688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sud uchun yillik litsenziya + bir martalik on-prem joriy etish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71616" y="1508760"/>
            <a:ext cx="2679192" cy="2971800"/>
          </a:xfrm>
          <a:prstGeom prst="roundRect">
            <a:avLst>
              <a:gd name="adj" fmla="val 3072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504188"/>
            <a:ext cx="2423160" cy="54864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783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0216" y="2286000"/>
            <a:ext cx="2221992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24688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ko'rish 3–5x tez · qog'oz xarajati past · maxfiylik kafolati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9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= doimiy bulut to'lovsiz, internetsiz ishlaydi — egalik narxi (TCO) past.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— Maqsadlar va KPI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 — pilotdan respublika miqyosiga 3 yillik reja.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51560" y="2880360"/>
            <a:ext cx="6720840" cy="0"/>
          </a:xfrm>
          <a:prstGeom prst="line">
            <a:avLst/>
          </a:prstGeom>
          <a:noFill/>
          <a:ln w="25400">
            <a:solidFill>
              <a:srgbClr val="D9CF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788920"/>
            <a:ext cx="182880" cy="182880"/>
          </a:xfrm>
          <a:prstGeom prst="ellipse">
            <a:avLst/>
          </a:prstGeom>
          <a:solidFill>
            <a:srgbClr val="268BD2"/>
          </a:solidFill>
          <a:ln w="19050">
            <a:solidFill>
              <a:srgbClr val="FDF6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514600"/>
            <a:ext cx="0" cy="365760"/>
          </a:xfrm>
          <a:prstGeom prst="line">
            <a:avLst/>
          </a:prstGeom>
          <a:noFill/>
          <a:ln w="19050">
            <a:solidFill>
              <a:srgbClr val="268B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160020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9456" y="1595628"/>
            <a:ext cx="1664208" cy="54864"/>
          </a:xfrm>
          <a:prstGeom prst="roundRect">
            <a:avLst>
              <a:gd name="adj" fmla="val 5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Hozir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tayyor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" y="2203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demo sud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182880" cy="182880"/>
          </a:xfrm>
          <a:prstGeom prst="ellipse">
            <a:avLst/>
          </a:prstGeom>
          <a:solidFill>
            <a:srgbClr val="2AA198"/>
          </a:solidFill>
          <a:ln w="19050">
            <a:solidFill>
              <a:srgbClr val="FDF6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880360"/>
            <a:ext cx="0" cy="731520"/>
          </a:xfrm>
          <a:prstGeom prst="line">
            <a:avLst/>
          </a:prstGeom>
          <a:noFill/>
          <a:ln w="19050">
            <a:solidFill>
              <a:srgbClr val="2AA19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24612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9736" y="3241548"/>
            <a:ext cx="1664208" cy="54864"/>
          </a:xfrm>
          <a:prstGeom prst="roundRect">
            <a:avLst>
              <a:gd name="adj" fmla="val 50000"/>
            </a:avLst>
          </a:prstGeom>
          <a:solidFill>
            <a:srgbClr val="2AA1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3319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A1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sud · 300+ sudya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377440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~$120K / yil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2788920"/>
            <a:ext cx="182880" cy="182880"/>
          </a:xfrm>
          <a:prstGeom prst="ellipse">
            <a:avLst/>
          </a:prstGeom>
          <a:solidFill>
            <a:srgbClr val="6C71C4"/>
          </a:solidFill>
          <a:ln w="19050">
            <a:solidFill>
              <a:srgbClr val="FDF6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2514600"/>
            <a:ext cx="0" cy="365760"/>
          </a:xfrm>
          <a:prstGeom prst="line">
            <a:avLst/>
          </a:prstGeom>
          <a:noFill/>
          <a:ln w="19050">
            <a:solidFill>
              <a:srgbClr val="6C71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60020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0016" y="1595628"/>
            <a:ext cx="1664208" cy="54864"/>
          </a:xfrm>
          <a:prstGeom prst="roundRect">
            <a:avLst>
              <a:gd name="adj" fmla="val 50000"/>
            </a:avLst>
          </a:prstGeom>
          <a:solidFill>
            <a:srgbClr val="6C71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7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yil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1772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sud · 1200 sudya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2203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~$800K / yil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2788920"/>
            <a:ext cx="182880" cy="182880"/>
          </a:xfrm>
          <a:prstGeom prst="ellipse">
            <a:avLst/>
          </a:prstGeom>
          <a:solidFill>
            <a:srgbClr val="859900"/>
          </a:solidFill>
          <a:ln w="19050">
            <a:solidFill>
              <a:srgbClr val="FDF6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2880360"/>
            <a:ext cx="0" cy="731520"/>
          </a:xfrm>
          <a:prstGeom prst="line">
            <a:avLst/>
          </a:prstGeom>
          <a:noFill/>
          <a:ln w="19050">
            <a:solidFill>
              <a:srgbClr val="859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12280" y="324612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40296" y="3241548"/>
            <a:ext cx="1664208" cy="54864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2280" y="3319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yil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Respublika miqyosi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58000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Kengayish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54880"/>
            <a:ext cx="6766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9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Joriy holat: 10 AI moduli + 5 interfeys ishlaydigan MVP tayyor.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8092440" y="29260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68B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45720" cy="310896"/>
          </a:xfrm>
          <a:prstGeom prst="roundRect">
            <a:avLst>
              <a:gd name="adj" fmla="val 4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9144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SmartCourt AI jamoasi — rollar va mas'uliyat sohalari.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75104" cy="3063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458468"/>
            <a:ext cx="1719072" cy="54864"/>
          </a:xfrm>
          <a:prstGeom prst="roundRect">
            <a:avLst>
              <a:gd name="adj" fmla="val 50000"/>
            </a:avLst>
          </a:prstGeom>
          <a:solidFill>
            <a:srgbClr val="268B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783080"/>
            <a:ext cx="914400" cy="914400"/>
          </a:xfrm>
          <a:prstGeom prst="ellipse">
            <a:avLst/>
          </a:prstGeom>
          <a:solidFill>
            <a:srgbClr val="268BD2">
              <a:alpha val="15000"/>
            </a:srgbClr>
          </a:solidFill>
          <a:ln w="15875">
            <a:solidFill>
              <a:srgbClr val="268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8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Loyiha rahbari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152144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koʻnikmalar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6332" y="1463040"/>
            <a:ext cx="1975104" cy="3063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84348" y="1458468"/>
            <a:ext cx="1719072" cy="54864"/>
          </a:xfrm>
          <a:prstGeom prst="roundRect">
            <a:avLst>
              <a:gd name="adj" fmla="val 50000"/>
            </a:avLst>
          </a:prstGeom>
          <a:solidFill>
            <a:srgbClr val="2AA1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86684" y="1783080"/>
            <a:ext cx="914400" cy="914400"/>
          </a:xfrm>
          <a:prstGeom prst="ellipse">
            <a:avLst/>
          </a:prstGeom>
          <a:solidFill>
            <a:srgbClr val="2AA198">
              <a:alpha val="15000"/>
            </a:srgbClr>
          </a:solidFill>
          <a:ln w="15875">
            <a:solidFill>
              <a:srgbClr val="2AA1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6684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747772" y="285292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47772" y="32004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Bosh dasturchi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67812" y="3584448"/>
            <a:ext cx="1152144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7772" y="36576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koʻnikmalar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7772" y="40690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55464" y="1463040"/>
            <a:ext cx="1975104" cy="3063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458468"/>
            <a:ext cx="1719072" cy="54864"/>
          </a:xfrm>
          <a:prstGeom prst="roundRect">
            <a:avLst>
              <a:gd name="adj" fmla="val 50000"/>
            </a:avLst>
          </a:prstGeom>
          <a:solidFill>
            <a:srgbClr val="6C71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85816" y="1783080"/>
            <a:ext cx="914400" cy="914400"/>
          </a:xfrm>
          <a:prstGeom prst="ellipse">
            <a:avLst/>
          </a:prstGeom>
          <a:solidFill>
            <a:srgbClr val="6C71C4">
              <a:alpha val="15000"/>
            </a:srgbClr>
          </a:solidFill>
          <a:ln w="15875">
            <a:solidFill>
              <a:srgbClr val="6C71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85816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946904" y="285292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46904" y="32004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C7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/ UI-UX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266944" y="3584448"/>
            <a:ext cx="1152144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36576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koʻnikmalar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46904" y="40690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54596" y="1463040"/>
            <a:ext cx="1975104" cy="30632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AE1C8"/>
            </a:solidFill>
            <a:prstDash val="solid"/>
          </a:ln>
          <a:effectLst>
            <a:outerShdw sx="100000" sy="100000" kx="0" ky="0" algn="bl" rotWithShape="0" blurRad="114300" dist="38100" dir="5400000">
              <a:srgbClr val="8A7E5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82612" y="1458468"/>
            <a:ext cx="1719072" cy="54864"/>
          </a:xfrm>
          <a:prstGeom prst="roundRect">
            <a:avLst>
              <a:gd name="adj" fmla="val 50000"/>
            </a:avLst>
          </a:prstGeom>
          <a:solidFill>
            <a:srgbClr val="85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84948" y="1783080"/>
            <a:ext cx="914400" cy="914400"/>
          </a:xfrm>
          <a:prstGeom prst="ellipse">
            <a:avLst/>
          </a:prstGeom>
          <a:solidFill>
            <a:srgbClr val="859900">
              <a:alpha val="15000"/>
            </a:srgbClr>
          </a:solidFill>
          <a:ln w="15875">
            <a:solidFill>
              <a:srgbClr val="85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4948" y="1783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146036" y="2852928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36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F.I.Sh.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146036" y="32004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5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analitik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466076" y="3584448"/>
            <a:ext cx="1152144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6036" y="365760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3A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Tajriba va koʻnikmalar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46036" y="406908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8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 yil tajriba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27448"/>
            <a:ext cx="8229600" cy="0"/>
          </a:xfrm>
          <a:prstGeom prst="line">
            <a:avLst/>
          </a:prstGeom>
          <a:noFill/>
          <a:ln w="12700">
            <a:solidFill>
              <a:srgbClr val="E7DE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754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1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#MilliyAIXakaton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SmartCourt AI — Pitch Day taqdimoti</dc:title>
  <dc:subject>PptxGenJS Presentation</dc:subject>
  <dc:creator>SmartCourt AI</dc:creator>
  <cp:lastModifiedBy>SmartCourt AI</cp:lastModifiedBy>
  <cp:revision>1</cp:revision>
  <dcterms:created xsi:type="dcterms:W3CDTF">2026-06-05T07:14:03Z</dcterms:created>
  <dcterms:modified xsi:type="dcterms:W3CDTF">2026-06-05T07:14:03Z</dcterms:modified>
</cp:coreProperties>
</file>