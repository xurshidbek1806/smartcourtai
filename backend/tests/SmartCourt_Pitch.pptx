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52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Andijon AI Xakaton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tizimi yo'nalishi · 6-iyun,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1371600" cy="1371600"/>
          </a:xfrm>
          <a:prstGeom prst="line">
            <a:avLst/>
          </a:prstGeom>
          <a:solidFill>
            <a:srgbClr val="1F293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SmartCourt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SmartCourt AI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017520" y="2240280"/>
            <a:ext cx="530352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sud tizimi uchun AI ekotizimi — insonparvar adolat, soniyalar ichida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4736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900" dirty="0" err="1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MilliyAIXakaton</a:t>
            </a: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</a:t>
            </a:r>
            <a:r>
              <a:rPr lang="en-US" sz="900" dirty="0" err="1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AndijonAI</a:t>
            </a: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SmartCourt AI — biz nima qilamiz?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41148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AI modul orqali sud jarayonini boshidan oxirigacha avtomatlashtiramiz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926080" cy="3200400"/>
          </a:xfrm>
          <a:prstGeom prst="rect">
            <a:avLst/>
          </a:prstGeom>
          <a:solidFill>
            <a:srgbClr val="1A1025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9260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2011680" cy="2011680"/>
          </a:xfrm>
          <a:prstGeom prst="line">
            <a:avLst/>
          </a:prstGeom>
          <a:solidFill>
            <a:srgbClr val="E5534B">
              <a:alpha val="8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Adolat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ekotizimi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1234440"/>
            <a:ext cx="530352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566160" y="1234440"/>
            <a:ext cx="54864" cy="320040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74904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sud tizimini AI yordamida raqamlashtiruvchi platforma. Ariza topshirishdan to qaror ijrosigacha — yagona AI konveyer.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1920240"/>
            <a:ext cx="4937760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749040" y="20574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Sudyalarga AI-yordamchi — oylik yuk 60% kamayadi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modul: ClaimValidator, SmartJudge, JustiScribe, LexPredictor va boshqalar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To'liq lokal (on-premise) — sud sirlari chet elga ketmaydi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Stack: Llama 3.2 + Qdrant RAG + faster-whisper — barchasi lokal Ollama orqali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tizimining real muammosi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shunchaki sekinlik emas — bu insonparvarlik va davlat byudjet masalasi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solidFill>
            <a:srgbClr val="E5534B">
              <a:alpha val="85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bizga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ehtiyoj bor?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691640" y="3182112"/>
            <a:ext cx="7315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1"/>
          <p:cNvSpPr/>
          <p:nvPr/>
        </p:nvSpPr>
        <p:spPr>
          <a:xfrm>
            <a:off x="3840480" y="1207008"/>
            <a:ext cx="54864" cy="1417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2"/>
          <p:cNvSpPr/>
          <p:nvPr/>
        </p:nvSpPr>
        <p:spPr>
          <a:xfrm>
            <a:off x="3977640" y="1371600"/>
            <a:ext cx="365760" cy="36576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3977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4840" y="1353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Sudyalarning haddan ortiq yuklamasi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17556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sudya oyiga 556 ta ish ko'radi — xalqaro me'yor faqat 16 ta. Ya'ni 35 barobar ortiqcha. O'ylashga vaqt yo'q, sifat tushadi.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2834640"/>
            <a:ext cx="5029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9" name="Shape 17"/>
          <p:cNvSpPr/>
          <p:nvPr/>
        </p:nvSpPr>
        <p:spPr>
          <a:xfrm>
            <a:off x="3840480" y="2834640"/>
            <a:ext cx="54864" cy="1417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3977640" y="2999232"/>
            <a:ext cx="365760" cy="36576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397764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4840" y="2980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ish yuki va kechikishlar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33832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Yiliga 4M+ ish, xodim vaqtining 60-70% texnik ishga ketadi. Adolat 1.5-2 yil kutadi — fuqaro ishonchi yo'qoladi.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Manba: O'zbekiston Oliy Sudi rasmiy statistikasi (2025 yakun)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 — sud raqamlashtirish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LegalTech va sud raqamlashtirish bozori dunyo bo'ylab tez o'syapti — biz O'zbekistondan boshlaymiz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926080" cy="3200400"/>
          </a:xfrm>
          <a:prstGeom prst="rect">
            <a:avLst/>
          </a:prstGeom>
          <a:solidFill>
            <a:srgbClr val="1A10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9260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129844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566160" y="1298448"/>
            <a:ext cx="502920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703320" y="138988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~$10 mlrd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1792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LegalTech + sud raqamlashtirish bozori (2030 prognoz)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30428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3566160" y="2304288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3703320" y="239572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23957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~$500 mln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3320" y="2798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MDH + Markaziy Osiyo — 8 davlat, 50,000+ sudya, o'xshash huquqiy tizim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310128"/>
            <a:ext cx="53035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3566160" y="3310128"/>
            <a:ext cx="32004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3703320" y="34015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401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~$30 mln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3803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O'zbekiston: 100+ sud, 1,500+ sudya, 14 viloyat — pilot bozor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Mijoz: Davlat (B2G) — Oliy Sud, Adliya vazirligi, viloyat sudlari, prokuratura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va raqobatdagi ustunlik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modul, lokal AI, RAG — boshqalarda yo'q. Bizning eshigimiz ochiq, ularniki yopiq.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solidFill>
            <a:srgbClr val="E5534B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274320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SmartCourt 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E-sud (mavjud)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yechimlar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457200" y="16459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AI modul (end-to-end zanjir)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2743200" y="16459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484632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6858000" y="16459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457200" y="22128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AI (on-premise xavfsizlik)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2743200" y="221284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484632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 28"/>
          <p:cNvSpPr/>
          <p:nvPr/>
        </p:nvSpPr>
        <p:spPr>
          <a:xfrm>
            <a:off x="6858000" y="22128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457200" y="277977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vaqtda token streaming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4" name="Text 32"/>
          <p:cNvSpPr/>
          <p:nvPr/>
        </p:nvSpPr>
        <p:spPr>
          <a:xfrm>
            <a:off x="2743200" y="277977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Text 34"/>
          <p:cNvSpPr/>
          <p:nvPr/>
        </p:nvSpPr>
        <p:spPr>
          <a:xfrm>
            <a:off x="4846320" y="27797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Text 36"/>
          <p:cNvSpPr/>
          <p:nvPr/>
        </p:nvSpPr>
        <p:spPr>
          <a:xfrm>
            <a:off x="6858000" y="277977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346704"/>
            <a:ext cx="228600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457200" y="334670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 / B2G mosligi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0" y="3346704"/>
            <a:ext cx="210312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2" name="Text 40"/>
          <p:cNvSpPr/>
          <p:nvPr/>
        </p:nvSpPr>
        <p:spPr>
          <a:xfrm>
            <a:off x="2743200" y="334670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46320" y="3346704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Text 42"/>
          <p:cNvSpPr/>
          <p:nvPr/>
        </p:nvSpPr>
        <p:spPr>
          <a:xfrm>
            <a:off x="4846320" y="33467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58000" y="3346704"/>
            <a:ext cx="2011680" cy="530352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6" name="Text 44"/>
          <p:cNvSpPr/>
          <p:nvPr/>
        </p:nvSpPr>
        <p:spPr>
          <a:xfrm>
            <a:off x="6858000" y="334670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3886200"/>
            <a:ext cx="8412480" cy="658368"/>
          </a:xfrm>
          <a:prstGeom prst="rect">
            <a:avLst/>
          </a:prstGeom>
          <a:solidFill>
            <a:srgbClr val="1A0D0D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8" name="Shape 46"/>
          <p:cNvSpPr/>
          <p:nvPr/>
        </p:nvSpPr>
        <p:spPr>
          <a:xfrm>
            <a:off x="457200" y="3886200"/>
            <a:ext cx="841248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Text 47"/>
          <p:cNvSpPr/>
          <p:nvPr/>
        </p:nvSpPr>
        <p:spPr>
          <a:xfrm>
            <a:off x="457200" y="3886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— yagona to'liq lokal va end-to-end yechim. Sud sirlari chet elga ketmaydi.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— B2G modeli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to'laydi — lekin bu tejalgan resursning kichik ulushi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0F1A0F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3200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20700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3977640" y="12984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to'laydi?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168249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(B2G): Oliy Sud, Adliya vazirligi, viloyat sudlari. Birinchi pilot — Andijon.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0" y="225856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3840480" y="225856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3977640" y="23500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Qancha to'laydi?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7340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litsenziya $50K-$200K (sud hajmiga qarab) + 20% texnik xizmat / yil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0" y="3310128"/>
            <a:ext cx="5029200" cy="932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0" name="Shape 18"/>
          <p:cNvSpPr/>
          <p:nvPr/>
        </p:nvSpPr>
        <p:spPr>
          <a:xfrm>
            <a:off x="3840480" y="3310128"/>
            <a:ext cx="54864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 19"/>
          <p:cNvSpPr/>
          <p:nvPr/>
        </p:nvSpPr>
        <p:spPr>
          <a:xfrm>
            <a:off x="3977640" y="3401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arziydi?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378561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Sudga yiliga 60% vaqt va $10M+ resurs tejaymiz. Bizning narx — tejam ulushi.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Bir sud: $100K daromad, $40K xarajat, breakeven 2-yilda. Uzoq muddatli barqaror daromad.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xaritasi — MVP'dan respublikagacha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Realistik reja: pilot → viloyat → respublika → MDH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772400" cy="365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8366760" y="25146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274320" cy="274320"/>
          </a:xfrm>
          <a:prstGeom prst="lin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 8"/>
          <p:cNvSpPr/>
          <p:nvPr/>
        </p:nvSpPr>
        <p:spPr>
          <a:xfrm>
            <a:off x="713232" y="1874520"/>
            <a:ext cx="36576" cy="640080"/>
          </a:xfrm>
          <a:prstGeom prst="rect">
            <a:avLst/>
          </a:prstGeom>
          <a:solidFill>
            <a:srgbClr val="E5534B">
              <a:alpha val="60000"/>
            </a:srgbClr>
          </a:solidFill>
          <a:ln w="12700">
            <a:solidFill>
              <a:srgbClr val="E5534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 9"/>
          <p:cNvSpPr/>
          <p:nvPr/>
        </p:nvSpPr>
        <p:spPr>
          <a:xfrm>
            <a:off x="45720" y="1013394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 10"/>
          <p:cNvSpPr/>
          <p:nvPr/>
        </p:nvSpPr>
        <p:spPr>
          <a:xfrm>
            <a:off x="45720" y="1005840"/>
            <a:ext cx="164592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-91440" y="10607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Hozir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-91440" y="13533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tayyor — Andijon xakaton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 + RAG ishlamoqda, demo tayyor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2514600"/>
            <a:ext cx="274320" cy="27432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 14"/>
          <p:cNvSpPr/>
          <p:nvPr/>
        </p:nvSpPr>
        <p:spPr>
          <a:xfrm>
            <a:off x="2724912" y="2788920"/>
            <a:ext cx="36576" cy="64008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1920240" y="342900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1920240" y="3429000"/>
            <a:ext cx="1645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192024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Andijon pilot: 5 ta tuman sudi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sudya, $100K daromad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514600"/>
            <a:ext cx="274320" cy="27432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4736592" y="1874520"/>
            <a:ext cx="36576" cy="64008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Shape 21"/>
          <p:cNvSpPr/>
          <p:nvPr/>
        </p:nvSpPr>
        <p:spPr>
          <a:xfrm>
            <a:off x="3931920" y="100584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Shape 22"/>
          <p:cNvSpPr/>
          <p:nvPr/>
        </p:nvSpPr>
        <p:spPr>
          <a:xfrm>
            <a:off x="3931920" y="1005840"/>
            <a:ext cx="16459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3"/>
          <p:cNvSpPr/>
          <p:nvPr/>
        </p:nvSpPr>
        <p:spPr>
          <a:xfrm>
            <a:off x="3931920" y="10607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yil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13533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viloyat sudida joriy etish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sudya, $500K daromad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2514600"/>
            <a:ext cx="274320" cy="274320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Shape 26"/>
          <p:cNvSpPr/>
          <p:nvPr/>
        </p:nvSpPr>
        <p:spPr>
          <a:xfrm>
            <a:off x="6748272" y="2788920"/>
            <a:ext cx="36576" cy="64008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Shape 27"/>
          <p:cNvSpPr/>
          <p:nvPr/>
        </p:nvSpPr>
        <p:spPr>
          <a:xfrm>
            <a:off x="5943600" y="3429000"/>
            <a:ext cx="16459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Shape 28"/>
          <p:cNvSpPr/>
          <p:nvPr/>
        </p:nvSpPr>
        <p:spPr>
          <a:xfrm>
            <a:off x="5943600" y="3429000"/>
            <a:ext cx="1645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5943600" y="34838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yil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3776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O'zbekiston + MDH ekspansiya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sudya, $5M+ daromad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Strategiya: bir pilotdan respublikaga, keyin Qozog'iston va Qirg'izistonga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534B">
              <a:alpha val="15000"/>
            </a:srgbClr>
          </a:solidFill>
          <a:ln w="12700">
            <a:solidFill>
              <a:srgbClr val="E5534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jamoangiz haqida: Kim? Tajriba? Rollar? Qancha vaqt birgasiz?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011680" cy="457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1005840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Loyiha rahbari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33472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7" name="Shape 15"/>
          <p:cNvSpPr/>
          <p:nvPr/>
        </p:nvSpPr>
        <p:spPr>
          <a:xfrm>
            <a:off x="2633472" y="1207008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 16"/>
          <p:cNvSpPr/>
          <p:nvPr/>
        </p:nvSpPr>
        <p:spPr>
          <a:xfrm>
            <a:off x="3182112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3182112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724912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Bosh dasturchi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07792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2724912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6" name="Shape 24"/>
          <p:cNvSpPr/>
          <p:nvPr/>
        </p:nvSpPr>
        <p:spPr>
          <a:xfrm>
            <a:off x="4809744" y="1207008"/>
            <a:ext cx="20116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Shape 25"/>
          <p:cNvSpPr/>
          <p:nvPr/>
        </p:nvSpPr>
        <p:spPr>
          <a:xfrm>
            <a:off x="5358384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Text 26"/>
          <p:cNvSpPr/>
          <p:nvPr/>
        </p:nvSpPr>
        <p:spPr>
          <a:xfrm>
            <a:off x="5358384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01184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01184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/ UI-UX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84064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Text 30"/>
          <p:cNvSpPr/>
          <p:nvPr/>
        </p:nvSpPr>
        <p:spPr>
          <a:xfrm>
            <a:off x="4901184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01184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86016" y="1207008"/>
            <a:ext cx="20116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35" name="Shape 33"/>
          <p:cNvSpPr/>
          <p:nvPr/>
        </p:nvSpPr>
        <p:spPr>
          <a:xfrm>
            <a:off x="6986016" y="1207008"/>
            <a:ext cx="20116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6" name="Shape 34"/>
          <p:cNvSpPr/>
          <p:nvPr/>
        </p:nvSpPr>
        <p:spPr>
          <a:xfrm>
            <a:off x="7534656" y="1371600"/>
            <a:ext cx="914400" cy="914400"/>
          </a:xfrm>
          <a:prstGeom prst="line">
            <a:avLst/>
          </a:prstGeom>
          <a:solidFill>
            <a:srgbClr val="1F293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Text 35"/>
          <p:cNvSpPr/>
          <p:nvPr/>
        </p:nvSpPr>
        <p:spPr>
          <a:xfrm>
            <a:off x="7534656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077456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77456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analitik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60336" y="3127248"/>
            <a:ext cx="146304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Text 39"/>
          <p:cNvSpPr/>
          <p:nvPr/>
        </p:nvSpPr>
        <p:spPr>
          <a:xfrm>
            <a:off x="7077456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ko'nikmalar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77456" y="3749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491</Words>
  <Application>Microsoft Macintosh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Day Taqdimot Shabloni — AI Hackathon</dc:title>
  <dc:subject>PptxGenJS Presentation</dc:subject>
  <dc:creator>PptxGenJS</dc:creator>
  <cp:lastModifiedBy>Elyorjon Abdurazakov</cp:lastModifiedBy>
  <cp:revision>3</cp:revision>
  <dcterms:created xsi:type="dcterms:W3CDTF">2026-03-30T19:38:21Z</dcterms:created>
  <dcterms:modified xsi:type="dcterms:W3CDTF">2026-04-10T13:43:58Z</dcterms:modified>
</cp:coreProperties>
</file>